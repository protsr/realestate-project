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8A838"/>
                </a:solidFill>
              </a:defRPr>
            </a:pPr>
            <a:r>
              <a:t>BCA 5TH SEMESTER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3D3E"/>
                </a:solidFill>
              </a:defRPr>
            </a:pPr>
            <a:r>
              <a:t>DreamNest Real Estate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48B82"/>
                </a:solidFill>
              </a:defRPr>
            </a:pPr>
            <a:r>
              <a:t>A Modern Web-Based Property Discovery &amp; Management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962095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06240"/>
            <a:ext cx="85340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Technology Stack: PHP 8.x | MySQL 8.0 | HTML5 &amp; CSS3 | JavaScript (ES6+) | Apache</a:t>
            </a:r>
          </a:p>
          <a:p>
            <a:pPr algn="ctr">
              <a:defRPr sz="1200">
                <a:solidFill>
                  <a:srgbClr val="6B7F8E"/>
                </a:solidFill>
              </a:defRPr>
            </a:pPr>
            <a:r>
              <a:t>Department of Computer Science &amp;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Index &amp;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7276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1. 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4028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5000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2. Limitation of Existing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2724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3.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9476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0448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4. Scope (Functional &amp; Technical)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8172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5. Technology Stack Detailed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4924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5896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6. Advantages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46304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7276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7. System Design (Modules &amp; Use Cases)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24028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5000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8. Screenshots Showcase (7 Core Screens)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1752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2724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9. ER-Diagram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9476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0448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10. Software Testing &amp; Test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7200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68172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11. References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349240"/>
            <a:ext cx="4937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45896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12. 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3D3E"/>
                </a:solidFill>
              </a:defRPr>
            </a:pPr>
            <a:r>
              <a:t>Project Overview: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DreamNest is a comprehensive real estate management portal designed to revolutionize property discovery, buying, renting, and administration.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Replaces fragmented, offline property transactions with an automated, database-driven web platform.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Features an inventory of 80+ verified residential, commercial, villa, and plot listings across major Gujarat urban centers.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Integrates dynamic multi-parameter search, favorite bookmarking, online visit requests, property submission forms, and a secure admin control panel.</a:t>
            </a:r>
          </a:p>
          <a:p>
            <a:pPr>
              <a:spcAft>
                <a:spcPts val="1200"/>
              </a:spcAft>
              <a:defRPr sz="1400">
                <a:solidFill>
                  <a:srgbClr val="1A1A2E"/>
                </a:solidFill>
              </a:defRPr>
            </a:pPr>
            <a:r>
              <a:t>• Built strictly adhering to responsive design principles, clean architecture, and robust database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Limitations of Existing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2828"/>
                </a:solidFill>
              </a:defRPr>
            </a:pPr>
            <a:r>
              <a:t>❌ Manual Property Screening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Property seekers must make physical visits or endless phone calls to brokers just to get basic specs.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728655" cy="82296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2828"/>
                </a:solidFill>
              </a:defRPr>
            </a:pPr>
            <a:r>
              <a:t>❌ No Real-Time Dynamic Search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Conventional paper ads lack instant filtering by budget, location, property type, or bedroom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728655" cy="82296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2828"/>
                </a:solidFill>
              </a:defRPr>
            </a:pPr>
            <a:r>
              <a:t>❌ High Communication Delay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Manual enquiry forms lead to communication gaps, mislaid customer records, and delayed follow-ups.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728655" cy="82296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2828"/>
                </a:solidFill>
              </a:defRPr>
            </a:pPr>
            <a:r>
              <a:t>❌ Data Security &amp; Scalability Risks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Spreadsheet-based records lack role-based access controls, session persistence, and data normalization.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2828"/>
                </a:solidFill>
              </a:defRPr>
            </a:pPr>
            <a:r>
              <a:t>❌ Lack of User Personalization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Traditional systems offer no user dashboards to save favorite listings or monitor lead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🎯 Centralized Web Hub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Create a single platform connecting buyers, renters, owners, and admins.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🎯 Dynamic Multi-Criteria Search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Enable real-time parameter filtering by city, property type, mode (buy/rent), and bedrooms.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🎯 Role-Based Security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Implement secure session-managed user authentication and admin access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9260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06324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🎯 Admin CRUD Control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Provide administrators full control to add, edit, and delete property listings and customer enquiries.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🎯 Responsive UI Aesthetics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Deliver an ultra-modern Teal &amp; Amber responsive theme optimized across all screen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Scope (Functional &amp; Technical)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3D3E"/>
                </a:solidFill>
              </a:defRPr>
            </a:pPr>
            <a:r>
              <a:t>4.1 Functional Scope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✔ User Registration &amp; Session Authentication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✔ Browse 80+ properties across 5 categories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✔ Multi-parameter dynamic search &amp; filtering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✔ Personalized User Dashboard &amp; Saved Favorites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✔ Property Visit Requests &amp; Sell Property submission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✔ Admin Analytics Dashboard &amp; Property CRUD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✔ Customer Enquiry management &amp; User registry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8B82"/>
                </a:solidFill>
              </a:defRPr>
            </a:pPr>
            <a:r>
              <a:t>4.2 Technical Scope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⚡ Modular PHP File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⚡ MySQL Relational Database Schema (5 tables)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⚡ Zero-Trust SQL Injection protection via Prepared Statements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⚡ SHA-256 password hashing algorithm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⚡ Responsive CSS Custom Variables &amp; Flexbox/Grid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⚡ Session-based Role-Based Access Control (RBAC)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⚡ XAMPP / Apache web server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Technology Stack Detailed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3D3E"/>
                </a:solidFill>
              </a:defRPr>
            </a:pPr>
            <a:r>
              <a:t>HTML5 &amp; CSS3  —  [Frontend]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Semantic markup, CSS Flexbox/Grid layout, and responsive custom theme variables (`--navy: #0F3D3E`).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3D3E"/>
                </a:solidFill>
              </a:defRPr>
            </a:pPr>
            <a:r>
              <a:t>JavaScript (ES6)  —  [Client Logic]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DOM manipulation, dynamic property search filtering, mobile navigation drawer toggle, and favorite UI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3D3E"/>
                </a:solidFill>
              </a:defRPr>
            </a:pPr>
            <a:r>
              <a:t>PHP 8.x  —  [Backend Server]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Modular server scripting, session persistence, secure HTTP routing, prepared SQL statement execution, and page template inclusion.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3D3E"/>
                </a:solidFill>
              </a:defRPr>
            </a:pPr>
            <a:r>
              <a:t>MySQL 8.0  —  [Database Engine]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ACID-compliant relational storage, InnoDB engine, foreign keys (`ON DELETE CASCADE` / `SET NULL`), auto-increments, and indexes.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3D3E"/>
                </a:solidFill>
              </a:defRPr>
            </a:pPr>
            <a:r>
              <a:t>Apache (XAMPP)  —  [Web Server]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Local web hosting environment managing PHP module execution and MySQL daemon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Key Advantages of DreamNest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8B82"/>
                </a:solidFill>
              </a:defRPr>
            </a:pPr>
            <a:r>
              <a:t>✨ High Performance &amp; Lightweight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Native PHP &amp; CSS implementation ensures ultra-fast page load speeds under 1 second without framework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8B82"/>
                </a:solidFill>
              </a:defRPr>
            </a:pPr>
            <a:r>
              <a:t>✨ Robust SQL Injection Protection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Parameterized prepared statements across all database queries guarantee top-tier security against web exploits.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8B82"/>
                </a:solidFill>
              </a:defRPr>
            </a:pPr>
            <a:r>
              <a:t>✨ Scalable Inventory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Easily handles 80+ properties with high-resolution imagery, full specification matrix, and detailed descriptions.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8B82"/>
                </a:solidFill>
              </a:defRPr>
            </a:pPr>
            <a:r>
              <a:t>✨ Seamless Responsiveness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Optimized viewport rules deliver smooth UI layout adaptation across mobile phones, tablets, and wide monitors.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14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8B82"/>
                </a:solidFill>
              </a:defRPr>
            </a:pPr>
            <a:r>
              <a:t>✨ Automated Lead Capture</a:t>
            </a:r>
          </a:p>
          <a:p>
            <a:pPr>
              <a:defRPr sz="1200">
                <a:solidFill>
                  <a:srgbClr val="1A1A2E"/>
                </a:solidFill>
              </a:defRPr>
            </a:pPr>
            <a:r>
              <a:t>Customer enquiries automatically save property context and user details into MySQL for admin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System Design — 7.1 Modules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⚙ Authentication Module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Manages user registration, password hashing, session validation, and admin authentication guards (`admin/auth.php`).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⚙ Property Catalog Module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Handles SQL multi-parameter dynamic query building, property detail rendering, and property card grid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7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⚙ User Interaction Module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Powers user dashboard analytics, favorite property bookmarks, enquiry form submissions, and sell listing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47488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3D3E"/>
                </a:solidFill>
              </a:defRPr>
            </a:pPr>
            <a:r>
              <a:t>⚙ Admin Control Module</a:t>
            </a:r>
          </a:p>
          <a:p>
            <a:pPr>
              <a:defRPr sz="1300">
                <a:solidFill>
                  <a:srgbClr val="1A1A2E"/>
                </a:solidFill>
              </a:defRPr>
            </a:pPr>
            <a:r>
              <a:t>Provides executive dashboard metrics, complete property CRUD interface, user accounts list, and customer lead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7.1 System Design — Use Case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9966960" cy="7098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System Design — 7.2 Database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🗄 Table: users  (id (PK))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Fields: name, email, phone, password, role, created_at</a:t>
            </a:r>
            <a:br/>
            <a:r>
              <a:t>Purpose: Stores user &amp; admin accounts with SHA256 passwords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🗄 Table: properties  (id (PK))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Fields: title, description, type, listing_type, price, city, address, area, beds, baths, image</a:t>
            </a:r>
            <a:br/>
            <a:r>
              <a:t>Purpose: Stores 80+ property listings &amp; specs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🗄 Table: favorites  (id (PK))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Fields: user_id (FK), property_id (FK), created_at</a:t>
            </a:r>
            <a:br/>
            <a:r>
              <a:t>Purpose: Junction table mapping saved user properties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25112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🗄 Table: enquiries  (id (PK))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Fields: user_id (FK), property_id (FK), name, email, phone, subject, message, status</a:t>
            </a:r>
            <a:br/>
            <a:r>
              <a:t>Purpose: Stores customer visit &amp; purchase enquiries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2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3E"/>
                </a:solidFill>
              </a:defRPr>
            </a:pPr>
            <a:r>
              <a:t>🗄 Table: agents  (id (PK))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Fields: name, designation, experience, phone, email, image</a:t>
            </a:r>
            <a:br/>
            <a:r>
              <a:t>Purpose: Stores real estate agent consultant profiles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Screenshots — Public Homepage (`index.php`)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screenshot_home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858572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3D3E"/>
                </a:solidFill>
              </a:defRPr>
            </a:pPr>
            <a:r>
              <a:t>Homepage Highlights: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Brand logo &amp; topbar contact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Hero background banner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Dynamic rapid search box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Key metric stat counters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Featured property card grid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Responsive footer links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Screenshots — Explore Properties Catalog (`properties.php`)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screenshot_properties_cata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589520" cy="75524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3716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3D3E"/>
                </a:solidFill>
              </a:defRPr>
            </a:pPr>
            <a:r>
              <a:t>Properties Catalog: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Page hero header banner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Multi-parameter filter bar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Search &amp; Reset action buttons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3-column responsive card grid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Verified badge on properties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Price &amp; dimension specs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Screenshots — Property Details (`property-details.php`)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screenshot_property_detai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589520" cy="69595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3716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3D3E"/>
                </a:solidFill>
              </a:defRPr>
            </a:pPr>
            <a:r>
              <a:t>Property Details: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High-res gallery image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Price display (₹92.00 Lakh)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Verified status badge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Specification matrix (Beds/Baths)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Request Property Visit CTA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Save Property (♡) button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Property Description section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Screenshots — User Dashboard (`dashboard.php`)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screenshot_user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589520" cy="55809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3716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3D3E"/>
                </a:solidFill>
              </a:defRPr>
            </a:pPr>
            <a:r>
              <a:t>User Dashboard: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User session greeting ('Welcome, Tushar Birade')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Saved Properties counter card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Total Enquiries counter card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Active Account &amp; Session pills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Personalized Saved Favorites property grid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Screenshots — Admin Dashboard (`admin/index.php`)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screenshot_admin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589520" cy="4328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3716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3D3E"/>
                </a:solidFill>
              </a:defRPr>
            </a:pPr>
            <a:r>
              <a:t>Admin Analytics: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Protected admin session guard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Total Properties Counter (80)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Registered Users Counter (3)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Incoming Enquiries Counter (3)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Admin topbar navigation bar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Screenshots — Admin Manage Properties (`admin/properties.php`)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screenshot_admin_proper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589520" cy="50695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3716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3D3E"/>
                </a:solidFill>
              </a:defRPr>
            </a:pPr>
            <a:r>
              <a:t>Property CRUD Table: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'+ Add Property' action CTA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Tabular data overview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Property ID, Title, Type, City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Price &amp; Availability status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Edit property modal button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Delete trigger with confirmation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Screenshots — Admin Enquiries Registry (`admin/enquiries.php`)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screenshot_admin_enqui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589520" cy="36020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3716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3D3E"/>
                </a:solidFill>
              </a:defRPr>
            </a:pPr>
            <a:r>
              <a:t>Customer Leads: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Enquiry ID &amp; Customer Name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Contact Email address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Linked Property Title reference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Message Subject &amp; Context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Status badge indicator ('New')</a:t>
            </a:r>
          </a:p>
          <a:p>
            <a:pPr>
              <a:spcAft>
                <a:spcPts val="800"/>
              </a:spcAft>
              <a:defRPr sz="1200">
                <a:solidFill>
                  <a:srgbClr val="1A1A2E"/>
                </a:solidFill>
              </a:defRPr>
            </a:pPr>
            <a:r>
              <a:t>• Date &amp; Time timestamp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Entity-Relationship (ER)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pic>
        <p:nvPicPr>
          <p:cNvPr id="8" name="Picture 7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48495" cy="62778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Software Testing &amp; 10.1 Detailed Test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844A"/>
                </a:solidFill>
              </a:defRPr>
            </a:pPr>
            <a:r>
              <a:t>🧪 TC01: User Registration  |  Status: PASS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Action: Submit registration form with valid inputs  --&gt;  Result: Account created in DB, password hashed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76272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9424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844A"/>
                </a:solidFill>
              </a:defRPr>
            </a:pPr>
            <a:r>
              <a:t>🧪 TC02: User Authentication  |  Status: PASS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Action: Login with registered credentials  --&gt;  Result: Session user_id set, redirect to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80944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844A"/>
                </a:solidFill>
              </a:defRPr>
            </a:pPr>
            <a:r>
              <a:t>🧪 TC03: Dynamic Search  |  Status: PASS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Action: Filter by city='Surat', type='Villa'  --&gt;  Result: Prepared SQL query returns matching villas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85616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58768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844A"/>
                </a:solidFill>
              </a:defRPr>
            </a:pPr>
            <a:r>
              <a:t>🧪 TC04: Save Favorites  |  Status: PASS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Action: Click ♡ button on property card  --&gt;  Result: Inserted into `favorites` table, shown in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90288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844A"/>
                </a:solidFill>
              </a:defRPr>
            </a:pPr>
            <a:r>
              <a:t>🧪 TC05: Submit Enquiry  |  Status: PASS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Action: Fill contact enquiry form  --&gt;  Result: Inserted into `enquiries` table with status=New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68112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7844A"/>
                </a:solidFill>
              </a:defRPr>
            </a:pPr>
            <a:r>
              <a:t>🧪 TC06: Admin Security  |  Status: PASS</a:t>
            </a:r>
          </a:p>
          <a:p>
            <a:pPr>
              <a:defRPr sz="1100">
                <a:solidFill>
                  <a:srgbClr val="1A1A2E"/>
                </a:solidFill>
              </a:defRPr>
            </a:pPr>
            <a:r>
              <a:t>Action: Direct URL access to `admin/index.php`  --&gt;  Result: Blocked by `admin/auth.php`, redirect to login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838"/>
                </a:solidFill>
              </a:defRPr>
            </a:pPr>
            <a:r>
              <a:t>DREAMNEST REAL ESTATE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References &amp; 12. Bibliography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F8E"/>
                </a:solidFill>
              </a:defRPr>
            </a:pPr>
            <a:r>
              <a:t>BCA 5th Semester Final Project | DreamNest Real Estate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3D3E"/>
                </a:solidFill>
              </a:defRPr>
            </a:pPr>
            <a:r>
              <a:t>11. References</a:t>
            </a:r>
          </a:p>
          <a:p>
            <a:pPr>
              <a:spcAft>
                <a:spcPts val="1000"/>
              </a:spcAft>
              <a:defRPr sz="1200">
                <a:solidFill>
                  <a:srgbClr val="1A1A2E"/>
                </a:solidFill>
              </a:defRPr>
            </a:pPr>
            <a:r>
              <a:t>🔗 PHP Manual: Official Documentation on PDO, MySQLi, and Session Security (php.net)</a:t>
            </a:r>
          </a:p>
          <a:p>
            <a:pPr>
              <a:spcAft>
                <a:spcPts val="1000"/>
              </a:spcAft>
              <a:defRPr sz="1200">
                <a:solidFill>
                  <a:srgbClr val="1A1A2E"/>
                </a:solidFill>
              </a:defRPr>
            </a:pPr>
            <a:r>
              <a:t>🔗 MySQL 8.0 Reference Manual: InnoDB Relational Architecture &amp; Indexing (dev.mysql.com)</a:t>
            </a:r>
          </a:p>
          <a:p>
            <a:pPr>
              <a:spcAft>
                <a:spcPts val="1000"/>
              </a:spcAft>
              <a:defRPr sz="1200">
                <a:solidFill>
                  <a:srgbClr val="1A1A2E"/>
                </a:solidFill>
              </a:defRPr>
            </a:pPr>
            <a:r>
              <a:t>🔗 MDN Web Docs: HTML5 Standards, CSS Flexbox/Grid, and JavaScript ES6+ (developer.mozilla.org)</a:t>
            </a:r>
          </a:p>
          <a:p>
            <a:pPr>
              <a:spcAft>
                <a:spcPts val="1000"/>
              </a:spcAft>
              <a:defRPr sz="1200">
                <a:solidFill>
                  <a:srgbClr val="1A1A2E"/>
                </a:solidFill>
              </a:defRPr>
            </a:pPr>
            <a:r>
              <a:t>🔗 XAMPP Stack Documentation: Apache Web Server &amp; Environment Configuration (apachefriends.org)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8B82"/>
                </a:solidFill>
              </a:defRPr>
            </a:pPr>
            <a:r>
              <a:t>12. Bibliography</a:t>
            </a:r>
          </a:p>
          <a:p>
            <a:pPr>
              <a:spcAft>
                <a:spcPts val="1200"/>
              </a:spcAft>
              <a:defRPr sz="1200">
                <a:solidFill>
                  <a:srgbClr val="1A1A2E"/>
                </a:solidFill>
              </a:defRPr>
            </a:pPr>
            <a:r>
              <a:t>📚 Welling, L. and Thomson, L. (2016) 'PHP and MySQL Web Development', 5th Ed., Addison-Wesley Professional.</a:t>
            </a:r>
          </a:p>
          <a:p>
            <a:pPr>
              <a:spcAft>
                <a:spcPts val="1200"/>
              </a:spcAft>
              <a:defRPr sz="1200">
                <a:solidFill>
                  <a:srgbClr val="1A1A2E"/>
                </a:solidFill>
              </a:defRPr>
            </a:pPr>
            <a:r>
              <a:t>📚 Nixon, R. (2021) 'Learning PHP, MySQL &amp; JavaScript: With JQuery, CSS &amp; HTML5', 6th Ed., O'Reilly Media.</a:t>
            </a:r>
          </a:p>
          <a:p>
            <a:pPr>
              <a:spcAft>
                <a:spcPts val="1200"/>
              </a:spcAft>
              <a:defRPr sz="1200">
                <a:solidFill>
                  <a:srgbClr val="1A1A2E"/>
                </a:solidFill>
              </a:defRPr>
            </a:pPr>
            <a:r>
              <a:t>📚 Duckett, J. (2014) 'Web Design with HTML, CSS, JavaScript and jQuery Set', Wiley Publishing.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619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3D3E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619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8A838"/>
                </a:solidFill>
              </a:defRPr>
            </a:pPr>
            <a:r>
              <a:t>Questions &amp;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7619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F8E"/>
                </a:solidFill>
              </a:defRPr>
            </a:pPr>
            <a:r>
              <a:t>DreamNest Real Estate Portal — BCA 5th Semester Final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